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фаз проекта: ЦА, гипотезы и HADI, Persons и JTBD, план CustDev, стратегия и метрики, презентация. Бонус: юнит-экономика.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Сегменты выделены по статистике, которую Duolingo публикует для инвесторов (investors.duolingo.com). Источник: файл pjm6.md.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Формат «Если мы сделаем X, то получим Y», проверка по SMART. Базовые значения гипотез 2 и 3 (9 % и 40 %) близки к данным отчётности: платят 12,7 из 140,6 млн MAU (≈ 9 %), DAU/MAU ≈ 42 %. Значение 15 % для гипотезы 1 подлежит уточнению. Источник: файл PjM6.txt.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Specific, Measurable, Achievable, Relevant, Time-bound. Источник: файл PjM6.txt (фаза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файл PjM6.txt (фаза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файл PjM6.txt (фаза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файл PjM6.txt (фаза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Persons — синтезированный образ пользователя на основе данных из фазы 1. Источник: файл PjM6 Фаза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Persons — синтезированный образ пользователя на основе данных из фазы 1. Источник: файл PjM6 Фаза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Persons — синтезированный образ пользователя на основе данных из фазы 1. Источник: файл PjM6 Фаза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JTBD отвечает на вопрос «для чего пользователь использует продукт». Три уровня: функциональный, эмоциональный, социальный. Источник: файл PjM6 Фаза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CustDev (customer development) — серия исследований для проверки гипотез на реальных пользователях до разработки. Источник: файл PjM6.txt (фаза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метода: два пользовательских (интервью, опрос) и два рыночных/внутренних (конкуренты, метрики). Источник: файл PjM6.txt (фаза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Вопросы интервью привязаны к гипотезам 1–3 и к JTBD из фазы 3. Источник: файл PjM6.txt (фаза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сформулирована до шагов. Исходные значения (15 %, 9 %, 40 %) взяты из исследования как оценочные: перед запуском проверок их уточняют по публичной отчётности компании и результатам исследования пользователей. Источник: файл «Стратегия развития Duolingo».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Шаги 2–4 выполняют параллельно после шага 1: механики относятся к разным сегментам и не зависят друг от друга. Общий срок проверок определяется наиболее длительной из них и составляет квартал. Источник: файл «Стратегия развития Duolingo».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Рост доли пользователей со streak возможен за счёт самой заморозки без роста числа занятий, поэтому для неё контролируют удержание. Источник: файл «Стратегия развития Duolingo».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Срок жизни платящего пользователя 18 месяцев — допущение расчёта. Здоровый бизнес: LTV больше CAC минимум в 3 раза; здесь около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6 · Анализ продукта Duolingo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3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58CC0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6 · АНАЛИЗ ПРОДУКТА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продукта Duolingo и стратегия развития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891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7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аудитория, гипотезы, Persons и Jobs-to-be-Done, план CustDev, стратегия, метрики и юнит-экономика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D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Школа 21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457200"/>
            <a:ext cx="914400" cy="914400"/>
          </a:xfrm>
          <a:prstGeom prst="ellipse">
            <a:avLst/>
          </a:prstGeom>
          <a:solidFill>
            <a:srgbClr val="58CC0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0" y="457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9875520" y="1280160"/>
            <a:ext cx="914400" cy="914400"/>
          </a:xfrm>
          <a:prstGeom prst="ellipse">
            <a:avLst/>
          </a:prstGeom>
          <a:solidFill>
            <a:srgbClr val="58CC0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7552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8229600" y="2377440"/>
            <a:ext cx="914400" cy="914400"/>
          </a:xfrm>
          <a:prstGeom prst="ellipse">
            <a:avLst/>
          </a:prstGeom>
          <a:solidFill>
            <a:srgbClr val="58CC0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966960" y="3474720"/>
            <a:ext cx="914400" cy="914400"/>
          </a:xfrm>
          <a:prstGeom prst="ellipse">
            <a:avLst/>
          </a:prstGeom>
          <a:solidFill>
            <a:srgbClr val="1CB0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966960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321040" y="4572000"/>
            <a:ext cx="914400" cy="914400"/>
          </a:xfrm>
          <a:prstGeom prst="ellipse">
            <a:avLst/>
          </a:prstGeom>
          <a:solidFill>
            <a:srgbClr val="1CB0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4572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0058400" y="5486400"/>
            <a:ext cx="914400" cy="914400"/>
          </a:xfrm>
          <a:prstGeom prst="ellipse">
            <a:avLst/>
          </a:prstGeom>
          <a:solidFill>
            <a:srgbClr val="FFC8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0" y="5486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ase chip"/>
          <p:cNvSpPr/>
          <p:nvPr/>
        </p:nvSpPr>
        <p:spPr>
          <a:xfrm>
            <a:off x="548640" y="384048"/>
            <a:ext cx="1033272" cy="292608"/>
          </a:xfrm>
          <a:prstGeom prst="roundRect">
            <a:avLst>
              <a:gd name="adj" fmla="val 50000"/>
            </a:avLst>
          </a:prstGeom>
          <a:solidFill>
            <a:srgbClr val="58CC0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Целевая аудитория: три сегмента</a:t>
            </a:r>
            <a:endParaRPr lang="en-US" sz="3200" dirty="0"/>
          </a:p>
        </p:txBody>
      </p:sp>
      <p:sp>
        <p:nvSpPr>
          <p:cNvPr id="6" name="Card"/>
          <p:cNvSpPr/>
          <p:nvPr/>
        </p:nvSpPr>
        <p:spPr>
          <a:xfrm>
            <a:off x="548640" y="1554480"/>
            <a:ext cx="3566160" cy="4709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69164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E8F7D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«Занятой ученик»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массовый тип пользователей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743200"/>
            <a:ext cx="30175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 и работающие люди 18–35 лет с малым количеством свободного времени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Потребность: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учиться в короткие промежутки между делами (метро, перед сном, перерыв); нужен мобильный формат без усидчивости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времени на полноценные курсы; быстро теряют мотивацию без видимого прогресса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Поведение: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минут в приложении; следят за счётчиком дней, чтобы не прерывать цепочку; геймификация удерживает внимание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311396" y="1554480"/>
            <a:ext cx="3566160" cy="4709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48556" y="169164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DDF4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85716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«Серьёзный энтузиаст»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85716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платёжеспособный тип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85716" y="2743200"/>
            <a:ext cx="30175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люди 25–50 лет, для которых язык важен практически: переезд, экзамен, интерес к культуре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Потребность: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знания: грамматика, произношение, объяснение ошибок, культурный контекст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геймификация, реклама и поверхностность бесплатной версии раздражают; готовы платить, чтобы это убрать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Поведение: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дополнение к другим методам изучения; со временем уходят или покупают подписку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8074152" y="1554480"/>
            <a:ext cx="3566160" cy="4709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11312" y="169164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FFF3C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348472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«Поколение Z»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348472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обеспечивает рост популярности за счёт мемов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348472" y="2743200"/>
            <a:ext cx="30175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подростки и молодёжь до 24 лет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Потребность: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учиться ради культурного контента (аниме, фильмы, мемы, игры); способ «быть в тусовке»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скука; нужен постоянный драйв и соревнование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Поведение: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заходят ради лидербордов и челленджей; мемы с совой дают компании бесплатную рекламу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ase chip"/>
          <p:cNvSpPr/>
          <p:nvPr/>
        </p:nvSpPr>
        <p:spPr>
          <a:xfrm>
            <a:off x="548640" y="384048"/>
            <a:ext cx="1033272" cy="292608"/>
          </a:xfrm>
          <a:prstGeom prst="roundRect">
            <a:avLst>
              <a:gd name="adj" fmla="val 50000"/>
            </a:avLst>
          </a:prstGeom>
          <a:solidFill>
            <a:srgbClr val="58CC0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Гипотезы по сегментам: SMART-формулировки</a:t>
            </a:r>
            <a:endParaRPr lang="en-US" sz="3200" dirty="0"/>
          </a:p>
        </p:txBody>
      </p:sp>
      <p:sp>
        <p:nvSpPr>
          <p:cNvPr id="6" name="Card"/>
          <p:cNvSpPr/>
          <p:nvPr/>
        </p:nvSpPr>
        <p:spPr>
          <a:xfrm>
            <a:off x="548640" y="1554480"/>
            <a:ext cx="3566160" cy="4709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691640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E8F7D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1691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1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«Занятой ученик»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974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внедрить гибкую систему streak (возможность «заморозить» серию на 1–2 дня без потери прогресса) и микро-цели на день (5 минут = выполнено), то доля пользователей 18–35 лет, сохраняющих streak 30+ дней, вырастет с 15 % до 25 % за 2 месяца.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85800" y="498348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F4F6F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" y="49834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15 % → 25 %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со streak 30+ · 2 месяца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4311396" y="1554480"/>
            <a:ext cx="3566160" cy="4709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48556" y="1691640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DDF4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85716" y="1691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2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«Серьёзный энтузиаст»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585716" y="26974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добавить в бесплатную версию ограниченный разбор ошибок с объяснением правил (3–5 в день), то покупка платной версии среди пользователей 25–50 лет вырастет с 9 % до 12 % за квартал.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448556" y="498348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F4F6F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48556" y="49834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9 % → 12 %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конверсия free → paid · квартал</a:t>
            </a:r>
            <a:endParaRPr lang="en-US" sz="1600" dirty="0"/>
          </a:p>
        </p:txBody>
      </p:sp>
      <p:sp>
        <p:nvSpPr>
          <p:cNvPr id="18" name="Card"/>
          <p:cNvSpPr/>
          <p:nvPr/>
        </p:nvSpPr>
        <p:spPr>
          <a:xfrm>
            <a:off x="8074152" y="1554480"/>
            <a:ext cx="3566160" cy="4709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11312" y="1691640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FFF3C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348472" y="1691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3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«Поколение Z»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348472" y="26974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добавить командные сезонные челленджи с Friend Streak и наградами, то DAU/MAU среди пользователей до 24 лет вырастет с 40 % до 50 % за 6 недель.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211312" y="498348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F4F6F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11312" y="49834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40 % → 50 %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DAU/MAU · 6 недель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ase chip"/>
          <p:cNvSpPr/>
          <p:nvPr/>
        </p:nvSpPr>
        <p:spPr>
          <a:xfrm>
            <a:off x="548640" y="384048"/>
            <a:ext cx="1033272" cy="292608"/>
          </a:xfrm>
          <a:prstGeom prst="roundRect">
            <a:avLst>
              <a:gd name="adj" fmla="val 50000"/>
            </a:avLst>
          </a:prstGeom>
          <a:solidFill>
            <a:srgbClr val="58CC0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гипотез по SMART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017520"/>
                <a:gridCol w="3017520"/>
                <a:gridCol w="258775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Критерий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Гипотеза 1 · «Занятой ученик»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Гипотеза 2 · «Серьёзный энтузиаст»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Гипотеза 3 · «Поколение Z»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2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F8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— конкретность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механика: гибкий streak + микро-цели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ограниченный ИИ-разбор ошибок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командные челленджи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F8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Measurable — измеримость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метрика: доля со streak 30+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конверсия free → paid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DAU/MAU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F8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Achievable — достижимость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технически просто, механика уже частично есть (Streak Freeze)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реализуемо через существующий ИИ-стек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механика уже частично есть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F8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 — значимость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прямо отвечает на боль Бориса: «жалко терять 80 дней», «расписание рваное»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прямо отвечает на боль «Серьёзного энтузиаста»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отвечает на потребность в драйве и статусе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F8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Time-bound — срок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месяца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квартал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недель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ase chip"/>
          <p:cNvSpPr/>
          <p:nvPr/>
        </p:nvSpPr>
        <p:spPr>
          <a:xfrm>
            <a:off x="548640" y="384048"/>
            <a:ext cx="1033272" cy="292608"/>
          </a:xfrm>
          <a:prstGeom prst="roundRect">
            <a:avLst>
              <a:gd name="adj" fmla="val 50000"/>
            </a:avLst>
          </a:prstGeom>
          <a:solidFill>
            <a:srgbClr val="58CC0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HADI: гипотеза 1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E8F7D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6002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· Hypothesis · «Занятой ученик»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усилить геймификацию для пользователей с рваным графиком (гибкий streak, «заморозка» на 1–2 дня, микро-цели на день вместо длинных уроков), то они будут реже бросать обучение и дольше удерживаться в приложении.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880360"/>
            <a:ext cx="37490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2990088"/>
            <a:ext cx="3474720" cy="384048"/>
          </a:xfrm>
          <a:prstGeom prst="roundRect">
            <a:avLst>
              <a:gd name="adj" fmla="val 23810"/>
            </a:avLst>
          </a:prstGeom>
          <a:solidFill>
            <a:srgbClr val="DDF4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29900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Analysis (до внедрения)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483864"/>
            <a:ext cx="3246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Текущая доля пользователей 18–35 со streak 30+ (базовая метрика)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пользователей теряют streak и на каком дне (7, 14, 30)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раз пользуются Streak Freeze и как это влияет на возврат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Причины отвала: сессия, работа, поездки — из интервью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анализ: как streak-механики работают у Duolingo, Snapchat, TikTok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4494276" y="2880360"/>
            <a:ext cx="36576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31436" y="2990088"/>
            <a:ext cx="3383280" cy="384048"/>
          </a:xfrm>
          <a:prstGeom prst="roundRect">
            <a:avLst>
              <a:gd name="adj" fmla="val 23810"/>
            </a:avLst>
          </a:prstGeom>
          <a:solidFill>
            <a:srgbClr val="FFF3C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768596" y="29900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Design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768596" y="3483864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Группы: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контрольная (текущий streak) и тестовая (гибкий streak + микро-цели)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Выборка: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10 000 пользователей 18–35 в каждой группе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Длительность: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месяца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метрика: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со streak 30+ (цель: 15 % → 25 %)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обесценивание streak (если заморозка слишком доступна), снижение ощущения «достижения»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8348472" y="288036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85632" y="2990088"/>
            <a:ext cx="3017520" cy="384048"/>
          </a:xfrm>
          <a:prstGeom prst="roundRect">
            <a:avLst>
              <a:gd name="adj" fmla="val 23810"/>
            </a:avLst>
          </a:prstGeom>
          <a:solidFill>
            <a:srgbClr val="F4F6F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622792" y="29900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Implementation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622792" y="3483864"/>
            <a:ext cx="2788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A/B-тест на ограниченной выборке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Промежуточный анализ на 3-й и 6-й неделе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streak 30+ растёт, а retention не падает — раскатка на всех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streak обесценивается (люди перестают им дорожить) — пересмотр лимитов заморозки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ase chip"/>
          <p:cNvSpPr/>
          <p:nvPr/>
        </p:nvSpPr>
        <p:spPr>
          <a:xfrm>
            <a:off x="548640" y="384048"/>
            <a:ext cx="1033272" cy="292608"/>
          </a:xfrm>
          <a:prstGeom prst="roundRect">
            <a:avLst>
              <a:gd name="adj" fmla="val 50000"/>
            </a:avLst>
          </a:prstGeom>
          <a:solidFill>
            <a:srgbClr val="58CC0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HADI: гипотеза 2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E8F7D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6002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· Hypothesis · «Серьёзный энтузиаст»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добавить в бесплатную версию разбор ошибок с объяснением грамматики (хотя бы базовый), то конверсия в платную подписку Super/Max вырастет.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69748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2807208"/>
            <a:ext cx="3657600" cy="384048"/>
          </a:xfrm>
          <a:prstGeom prst="roundRect">
            <a:avLst>
              <a:gd name="adj" fmla="val 23810"/>
            </a:avLst>
          </a:prstGeom>
          <a:solidFill>
            <a:srgbClr val="DDF4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28072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Analysis (до внедрения)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300984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Текущая конверсия free → paid у пользователей 25–50 (базовая метрика)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пользователей, бросающих обучение после ошибки без объяснения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Причины оттока: где именно в воронке теряются «серьёзные» ученики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 и жалобы пользователей 25–50 в App Store / соцсетях («поверхностно», «нет объяснений»)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анализ: как Busuu, Babbel и Duolingo Max конвертируют free → paid через «пробник глубины»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4677156" y="2697480"/>
            <a:ext cx="41605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14316" y="2807208"/>
            <a:ext cx="3886200" cy="384048"/>
          </a:xfrm>
          <a:prstGeom prst="roundRect">
            <a:avLst>
              <a:gd name="adj" fmla="val 23810"/>
            </a:avLst>
          </a:prstGeom>
          <a:solidFill>
            <a:srgbClr val="FFF3C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951476" y="280720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Design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951476" y="3300984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Группы: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контрольная (текущий free) и тестовая (free + ограниченный разбор ошибок)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Выборка: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15 000 пользователей 25–50 в каждой группе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Длительность: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квартал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метрика: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конверсия free → paid (цель: 9 % → 12 %)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Дополнительные: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D7/D30, отток текущих платящих (каннибализация)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каннибализация платящих, слишком щедрый лимит (не конвертит), плохой разбор (усиливает «игрушечность»)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9034272" y="26974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171432" y="2807208"/>
            <a:ext cx="2331720" cy="384048"/>
          </a:xfrm>
          <a:prstGeom prst="roundRect">
            <a:avLst>
              <a:gd name="adj" fmla="val 23810"/>
            </a:avLst>
          </a:prstGeom>
          <a:solidFill>
            <a:srgbClr val="F4F6F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308592" y="28072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Implementation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308592" y="3300984"/>
            <a:ext cx="2103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A/B-тест на ограниченной выборке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Промежуточный анализ на 4-й и 7-й неделе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конверсия растёт и каннибализации нет — раскатка на всех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каннибализация есть — корректируем лимиты и глубину разбора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ase chip"/>
          <p:cNvSpPr/>
          <p:nvPr/>
        </p:nvSpPr>
        <p:spPr>
          <a:xfrm>
            <a:off x="548640" y="384048"/>
            <a:ext cx="1033272" cy="292608"/>
          </a:xfrm>
          <a:prstGeom prst="roundRect">
            <a:avLst>
              <a:gd name="adj" fmla="val 50000"/>
            </a:avLst>
          </a:prstGeom>
          <a:solidFill>
            <a:srgbClr val="58CC0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HADI: гипотеза 3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E8F7D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6002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· Hypothesis · «Поколение Z»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усилить социальные механики (командные челленджи, сезонные ивенты с друзьями), то DAU/MAU среди пользователей до 24 лет вырастет.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6974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2807208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DDF4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28072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Analysis (до внедрения)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300984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Текущий DAU/MAU у пользователей до 24 лет (базовая метрика)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часто используют Friend Streak и лидерборды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D7/D30 в этом сегменте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Причины скуки и отвала: однообразие, отсутствие драйва — из интервью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анализ: как streak-механики и командные ивенты работают у Snapchat, Roblox, Fortnite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4311396" y="2697480"/>
            <a:ext cx="43891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48556" y="2807208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FFF3C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85716" y="28072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Design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585716" y="3300984"/>
            <a:ext cx="3886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Группы: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контрольная (текущие лидерборды и Friend Streak) и тестовая (+ командные сезонные челленджи)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Выборка: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20 000 пользователей в каждой группе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Длительность: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недель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метрика: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DAU/MAU (цель: 40 % → 50 %)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Дополнительные: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D7/D30, доля участников челленджей, виральность (приглашения друзей)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демотивация одиночек, проигрыш команды снижает возврат, обесценивание наград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8897112" y="269748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034272" y="2807208"/>
            <a:ext cx="2468880" cy="384048"/>
          </a:xfrm>
          <a:prstGeom prst="roundRect">
            <a:avLst>
              <a:gd name="adj" fmla="val 23810"/>
            </a:avLst>
          </a:prstGeom>
          <a:solidFill>
            <a:srgbClr val="F4F6F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71432" y="28072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Implementation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171432" y="3300984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A/B-тест на ограниченной выборке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Промежуточный анализ на 3-й и 5-й неделе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DAU/MAU растёт и нет негативных эффектов — раскатка на всех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вовлечённость растёт, но retention падает — корректируем сложность челленджей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ase chip"/>
          <p:cNvSpPr/>
          <p:nvPr/>
        </p:nvSpPr>
        <p:spPr>
          <a:xfrm>
            <a:off x="548640" y="384048"/>
            <a:ext cx="1033272" cy="292608"/>
          </a:xfrm>
          <a:prstGeom prst="roundRect">
            <a:avLst>
              <a:gd name="adj" fmla="val 50000"/>
            </a:avLst>
          </a:prstGeom>
          <a:solidFill>
            <a:srgbClr val="58CC0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Persons: Борис, 20 лет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749040" cy="4709160"/>
          </a:xfrm>
          <a:prstGeom prst="roundRect">
            <a:avLst>
              <a:gd name="adj" fmla="val 2927"/>
            </a:avLst>
          </a:prstGeom>
          <a:solidFill>
            <a:srgbClr val="131F24"/>
          </a:solidFill>
          <a:ln/>
        </p:spPr>
      </p:sp>
      <p:sp>
        <p:nvSpPr>
          <p:cNvPr id="7" name="Shape 4"/>
          <p:cNvSpPr/>
          <p:nvPr/>
        </p:nvSpPr>
        <p:spPr>
          <a:xfrm>
            <a:off x="1874520" y="1874520"/>
            <a:ext cx="1097280" cy="1097280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74520" y="18745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108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Борис, 20 лет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«Занятой ученик»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977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5D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2-го курса, подрабатывает курьером. Учит английский для стажировки.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8463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«Учу в метро между заказами. Streak держу, потому что жалко терять 80 дней подряд»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4526280" y="1554480"/>
            <a:ext cx="7114032" cy="1356360"/>
          </a:xfrm>
          <a:prstGeom prst="roundRect">
            <a:avLst>
              <a:gd name="adj" fmla="val 8090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167335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E8F7D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663440" y="1673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2148840"/>
            <a:ext cx="661111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Подтянуть английский до уровня, чтобы пройти собеседование</a:t>
            </a:r>
            <a:endParaRPr lang="en-US" sz="15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забрасывать учёбу, когда начинается сессия</a:t>
            </a:r>
            <a:endParaRPr lang="en-US" sz="1550" dirty="0"/>
          </a:p>
        </p:txBody>
      </p:sp>
      <p:sp>
        <p:nvSpPr>
          <p:cNvPr id="17" name="Card"/>
          <p:cNvSpPr/>
          <p:nvPr/>
        </p:nvSpPr>
        <p:spPr>
          <a:xfrm>
            <a:off x="4526280" y="3093720"/>
            <a:ext cx="7114032" cy="1630680"/>
          </a:xfrm>
          <a:prstGeom prst="roundRect">
            <a:avLst>
              <a:gd name="adj" fmla="val 6729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321259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FFF3C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663440" y="3212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Проблемы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800600" y="3688080"/>
            <a:ext cx="661111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времени на курсы — расписание рваное</a:t>
            </a:r>
            <a:endParaRPr lang="en-US" sz="15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Теряет мотивацию, если нет быстрого видимого прогресса</a:t>
            </a:r>
            <a:endParaRPr lang="en-US" sz="15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Раздражает, когда уроки повторяются</a:t>
            </a:r>
            <a:endParaRPr lang="en-US" sz="1550" dirty="0"/>
          </a:p>
        </p:txBody>
      </p:sp>
      <p:sp>
        <p:nvSpPr>
          <p:cNvPr id="21" name="Card"/>
          <p:cNvSpPr/>
          <p:nvPr/>
        </p:nvSpPr>
        <p:spPr>
          <a:xfrm>
            <a:off x="4526280" y="4907280"/>
            <a:ext cx="7114032" cy="1356360"/>
          </a:xfrm>
          <a:prstGeom prst="roundRect">
            <a:avLst>
              <a:gd name="adj" fmla="val 8090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63440" y="502615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DDF4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663440" y="5026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Ценит в Duolingo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800600" y="5501640"/>
            <a:ext cx="6611112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Короткие уроки по 5–10 минут</a:t>
            </a:r>
            <a:endParaRPr lang="en-US" sz="15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как костыль для дисциплины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ase chip"/>
          <p:cNvSpPr/>
          <p:nvPr/>
        </p:nvSpPr>
        <p:spPr>
          <a:xfrm>
            <a:off x="548640" y="384048"/>
            <a:ext cx="1033272" cy="292608"/>
          </a:xfrm>
          <a:prstGeom prst="roundRect">
            <a:avLst>
              <a:gd name="adj" fmla="val 50000"/>
            </a:avLst>
          </a:prstGeom>
          <a:solidFill>
            <a:srgbClr val="58CC0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Persons: Ольга, 46 лет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749040" cy="4709160"/>
          </a:xfrm>
          <a:prstGeom prst="roundRect">
            <a:avLst>
              <a:gd name="adj" fmla="val 2927"/>
            </a:avLst>
          </a:prstGeom>
          <a:solidFill>
            <a:srgbClr val="131F24"/>
          </a:solidFill>
          <a:ln/>
        </p:spPr>
      </p:sp>
      <p:sp>
        <p:nvSpPr>
          <p:cNvPr id="7" name="Shape 4"/>
          <p:cNvSpPr/>
          <p:nvPr/>
        </p:nvSpPr>
        <p:spPr>
          <a:xfrm>
            <a:off x="1874520" y="1874520"/>
            <a:ext cx="1097280" cy="1097280"/>
          </a:xfrm>
          <a:prstGeom prst="ellipse">
            <a:avLst/>
          </a:prstGeom>
          <a:solidFill>
            <a:srgbClr val="1CB0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74520" y="18745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108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Ольга, 46 лет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«Серьёзный энтузиаст»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977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5D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Бухгалтер, готовится к переезду в Испанию. Учит испанский полгода.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8463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«Мне не нужно “весело”, мне нужно понимать грамматику и не выглядеть глупо в Барселоне»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4526280" y="1554480"/>
            <a:ext cx="7114032" cy="126492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167335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E8F7D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663440" y="1673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2148840"/>
            <a:ext cx="6611112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Дойти до уровня B1 и сдать экзамен DELE</a:t>
            </a:r>
            <a:endParaRPr lang="en-US" sz="15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Свободно объясняться в банке, магазине, у врача</a:t>
            </a:r>
            <a:endParaRPr lang="en-US" sz="1550" dirty="0"/>
          </a:p>
        </p:txBody>
      </p:sp>
      <p:sp>
        <p:nvSpPr>
          <p:cNvPr id="17" name="Card"/>
          <p:cNvSpPr/>
          <p:nvPr/>
        </p:nvSpPr>
        <p:spPr>
          <a:xfrm>
            <a:off x="4526280" y="3002280"/>
            <a:ext cx="7114032" cy="1539240"/>
          </a:xfrm>
          <a:prstGeom prst="roundRect">
            <a:avLst>
              <a:gd name="adj" fmla="val 7129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312115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FFF3C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663440" y="3121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Проблемы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800600" y="3596640"/>
            <a:ext cx="6611112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Бесплатная версия «слишком поверхностная» — нет объяснений ошибок</a:t>
            </a:r>
            <a:endParaRPr lang="en-US" sz="15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 и ограничение жизней сбивают ритм</a:t>
            </a:r>
            <a:endParaRPr lang="en-US" sz="15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Учебники скучные, а курсы дорогие</a:t>
            </a:r>
            <a:endParaRPr lang="en-US" sz="1550" dirty="0"/>
          </a:p>
        </p:txBody>
      </p:sp>
      <p:sp>
        <p:nvSpPr>
          <p:cNvPr id="21" name="Card"/>
          <p:cNvSpPr/>
          <p:nvPr/>
        </p:nvSpPr>
        <p:spPr>
          <a:xfrm>
            <a:off x="4526280" y="4724400"/>
            <a:ext cx="7114032" cy="1539240"/>
          </a:xfrm>
          <a:prstGeom prst="roundRect">
            <a:avLst>
              <a:gd name="adj" fmla="val 7129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63440" y="484327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DDF4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663440" y="4843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Ценит в Duolingo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800600" y="5318760"/>
            <a:ext cx="6611112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 Max с объяснением ошибок через ИИ</a:t>
            </a:r>
            <a:endParaRPr lang="en-US" sz="15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Безлимитные жизни в Super</a:t>
            </a:r>
            <a:endParaRPr lang="en-US" sz="15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Возможность заниматься в своём темпе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ase chip"/>
          <p:cNvSpPr/>
          <p:nvPr/>
        </p:nvSpPr>
        <p:spPr>
          <a:xfrm>
            <a:off x="548640" y="384048"/>
            <a:ext cx="1033272" cy="292608"/>
          </a:xfrm>
          <a:prstGeom prst="roundRect">
            <a:avLst>
              <a:gd name="adj" fmla="val 50000"/>
            </a:avLst>
          </a:prstGeom>
          <a:solidFill>
            <a:srgbClr val="58CC0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Persons: Марк, 13 лет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749040" cy="4709160"/>
          </a:xfrm>
          <a:prstGeom prst="roundRect">
            <a:avLst>
              <a:gd name="adj" fmla="val 2927"/>
            </a:avLst>
          </a:prstGeom>
          <a:solidFill>
            <a:srgbClr val="131F24"/>
          </a:solidFill>
          <a:ln/>
        </p:spPr>
      </p:sp>
      <p:sp>
        <p:nvSpPr>
          <p:cNvPr id="7" name="Shape 4"/>
          <p:cNvSpPr/>
          <p:nvPr/>
        </p:nvSpPr>
        <p:spPr>
          <a:xfrm>
            <a:off x="1874520" y="1874520"/>
            <a:ext cx="1097280" cy="109728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74520" y="18745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108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Марк, 13 лет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«Поколение Z»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977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5D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Школьник, 7-й класс. Учит японский, потому что смотрит аниме.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8463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 меня 200 дней streak, я первый в классе по XP. Если брошу — пацаны засмеют»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4526280" y="1554480"/>
            <a:ext cx="7114032" cy="126492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167335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E8F7D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663440" y="1673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2148840"/>
            <a:ext cx="6611112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Понимать фразы из аниме без субтитров</a:t>
            </a:r>
            <a:endParaRPr lang="en-US" sz="15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Быть первым в лидерборде среди друзей</a:t>
            </a:r>
            <a:endParaRPr lang="en-US" sz="1550" dirty="0"/>
          </a:p>
        </p:txBody>
      </p:sp>
      <p:sp>
        <p:nvSpPr>
          <p:cNvPr id="17" name="Card"/>
          <p:cNvSpPr/>
          <p:nvPr/>
        </p:nvSpPr>
        <p:spPr>
          <a:xfrm>
            <a:off x="4526280" y="3002280"/>
            <a:ext cx="7114032" cy="1539240"/>
          </a:xfrm>
          <a:prstGeom prst="roundRect">
            <a:avLst>
              <a:gd name="adj" fmla="val 7129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312115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FFF3C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663440" y="3121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Проблемы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800600" y="3596640"/>
            <a:ext cx="6611112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Становится скучно, если уроки однообразные</a:t>
            </a:r>
            <a:endParaRPr lang="en-US" sz="15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Раздражается, когда кто-то покупает победу в лидерборде за деньги</a:t>
            </a:r>
            <a:endParaRPr lang="en-US" sz="15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Домашку делать лень, а Duolingo — это не домашка</a:t>
            </a:r>
            <a:endParaRPr lang="en-US" sz="1550" dirty="0"/>
          </a:p>
        </p:txBody>
      </p:sp>
      <p:sp>
        <p:nvSpPr>
          <p:cNvPr id="21" name="Card"/>
          <p:cNvSpPr/>
          <p:nvPr/>
        </p:nvSpPr>
        <p:spPr>
          <a:xfrm>
            <a:off x="4526280" y="4724400"/>
            <a:ext cx="7114032" cy="1539240"/>
          </a:xfrm>
          <a:prstGeom prst="roundRect">
            <a:avLst>
              <a:gd name="adj" fmla="val 7129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63440" y="484327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DDF4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663440" y="4843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Ценит в Duolingo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800600" y="5318760"/>
            <a:ext cx="6611112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Лидерборды и соревнование с друзьями</a:t>
            </a:r>
            <a:endParaRPr lang="en-US" sz="15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Streak — соревнование с лучшим другом</a:t>
            </a:r>
            <a:endParaRPr lang="en-US" sz="15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Мемы про сову Duo, которые он кидает в чат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ase chip"/>
          <p:cNvSpPr/>
          <p:nvPr/>
        </p:nvSpPr>
        <p:spPr>
          <a:xfrm>
            <a:off x="548640" y="384048"/>
            <a:ext cx="1033272" cy="292608"/>
          </a:xfrm>
          <a:prstGeom prst="roundRect">
            <a:avLst>
              <a:gd name="adj" fmla="val 50000"/>
            </a:avLst>
          </a:prstGeom>
          <a:solidFill>
            <a:srgbClr val="58CC0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Jobs-to-be-done: зачем на самом деле</a:t>
            </a:r>
            <a:endParaRPr lang="en-US" sz="3200" dirty="0"/>
          </a:p>
        </p:txBody>
      </p:sp>
      <p:sp>
        <p:nvSpPr>
          <p:cNvPr id="6" name="Card"/>
          <p:cNvSpPr/>
          <p:nvPr/>
        </p:nvSpPr>
        <p:spPr>
          <a:xfrm>
            <a:off x="548640" y="1554480"/>
            <a:ext cx="3566160" cy="4709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Борис, 20 лет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945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«Занять время в дороге так, чтобы это не казалось пустой тратой»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3154680"/>
            <a:ext cx="3200400" cy="896112"/>
          </a:xfrm>
          <a:prstGeom prst="roundRect">
            <a:avLst>
              <a:gd name="adj" fmla="val 10204"/>
            </a:avLst>
          </a:prstGeom>
          <a:solidFill>
            <a:srgbClr val="DDF4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3209544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Функциональный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выучить 20–30 фраз и слов за неделю короткими подходами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1520" y="4142232"/>
            <a:ext cx="3200400" cy="896112"/>
          </a:xfrm>
          <a:prstGeom prst="roundRect">
            <a:avLst>
              <a:gd name="adj" fmla="val 10204"/>
            </a:avLst>
          </a:prstGeom>
          <a:solidFill>
            <a:srgbClr val="FFF3C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" y="4197096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Эмоциональный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чувствовать вину за то, что не ходит на курсы и «забил» на саморазвитие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31520" y="5129784"/>
            <a:ext cx="3200400" cy="896112"/>
          </a:xfrm>
          <a:prstGeom prst="roundRect">
            <a:avLst>
              <a:gd name="adj" fmla="val 10204"/>
            </a:avLst>
          </a:prstGeom>
          <a:solidFill>
            <a:srgbClr val="E8F7D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68680" y="5184648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Социальный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держать streak и выглядеть в глазах друзей как человек, который не бросает начатое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4311396" y="1554480"/>
            <a:ext cx="3566160" cy="4709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85716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Ольга, 46 лет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4585716" y="21945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«Подготовиться к жизни в другой стране без страха опозориться»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494276" y="3154680"/>
            <a:ext cx="3200400" cy="896112"/>
          </a:xfrm>
          <a:prstGeom prst="roundRect">
            <a:avLst>
              <a:gd name="adj" fmla="val 10204"/>
            </a:avLst>
          </a:prstGeom>
          <a:solidFill>
            <a:srgbClr val="DDF4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631436" y="3209544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Функциональный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дойти до уровня B1 и понимать грамматику, а не просто заучивать фразы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494276" y="4142232"/>
            <a:ext cx="3200400" cy="896112"/>
          </a:xfrm>
          <a:prstGeom prst="roundRect">
            <a:avLst>
              <a:gd name="adj" fmla="val 10204"/>
            </a:avLst>
          </a:prstGeom>
          <a:solidFill>
            <a:srgbClr val="FFF3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631436" y="4197096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Эмоциональный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чувствовать контроль над ситуацией, а не панику перед переездом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494276" y="5129784"/>
            <a:ext cx="3200400" cy="896112"/>
          </a:xfrm>
          <a:prstGeom prst="roundRect">
            <a:avLst>
              <a:gd name="adj" fmla="val 10204"/>
            </a:avLst>
          </a:prstGeom>
          <a:solidFill>
            <a:srgbClr val="E8F7D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631436" y="5184648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Социальный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выглядеть «глупой туристкой» и говорить уверенно с местными</a:t>
            </a:r>
            <a:endParaRPr lang="en-US" sz="1600" dirty="0"/>
          </a:p>
        </p:txBody>
      </p:sp>
      <p:sp>
        <p:nvSpPr>
          <p:cNvPr id="24" name="Card"/>
          <p:cNvSpPr/>
          <p:nvPr/>
        </p:nvSpPr>
        <p:spPr>
          <a:xfrm>
            <a:off x="8074152" y="1554480"/>
            <a:ext cx="3566160" cy="4709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48472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Марк, 13 лет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8348472" y="21945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«Понимать то, что мне реально нравится, и быть в этом крутым среди друзей»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8257032" y="3154680"/>
            <a:ext cx="3200400" cy="896112"/>
          </a:xfrm>
          <a:prstGeom prst="roundRect">
            <a:avLst>
              <a:gd name="adj" fmla="val 10204"/>
            </a:avLst>
          </a:prstGeom>
          <a:solidFill>
            <a:srgbClr val="DDF4F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394192" y="3209544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Функциональный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понимать фразы из аниме без субтитров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257032" y="4142232"/>
            <a:ext cx="3200400" cy="896112"/>
          </a:xfrm>
          <a:prstGeom prst="roundRect">
            <a:avLst>
              <a:gd name="adj" fmla="val 10204"/>
            </a:avLst>
          </a:prstGeom>
          <a:solidFill>
            <a:srgbClr val="FFF3C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394192" y="4197096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Эмоциональный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получать кайф от победы в лидерборде и чувствовать, что он лучше всех в классе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257032" y="5129784"/>
            <a:ext cx="3200400" cy="896112"/>
          </a:xfrm>
          <a:prstGeom prst="roundRect">
            <a:avLst>
              <a:gd name="adj" fmla="val 10204"/>
            </a:avLst>
          </a:prstGeom>
          <a:solidFill>
            <a:srgbClr val="E8F7D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394192" y="5184648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Социальный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поддерживать статус первого по XP и не отставать от друзей по Friend Streak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ase chip"/>
          <p:cNvSpPr/>
          <p:nvPr/>
        </p:nvSpPr>
        <p:spPr>
          <a:xfrm>
            <a:off x="548640" y="384048"/>
            <a:ext cx="1033272" cy="292608"/>
          </a:xfrm>
          <a:prstGeom prst="roundRect">
            <a:avLst>
              <a:gd name="adj" fmla="val 50000"/>
            </a:avLst>
          </a:prstGeom>
          <a:solidFill>
            <a:srgbClr val="58CC0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CustDev: цели и этапы</a:t>
            </a:r>
            <a:endParaRPr lang="en-US" sz="3200" dirty="0"/>
          </a:p>
        </p:txBody>
      </p:sp>
      <p:sp>
        <p:nvSpPr>
          <p:cNvPr id="6" name="Card"/>
          <p:cNvSpPr/>
          <p:nvPr/>
        </p:nvSpPr>
        <p:spPr>
          <a:xfrm>
            <a:off x="548640" y="1554480"/>
            <a:ext cx="4114800" cy="4709160"/>
          </a:xfrm>
          <a:prstGeom prst="roundRect">
            <a:avLst>
              <a:gd name="adj" fmla="val 2667"/>
            </a:avLst>
          </a:prstGeom>
          <a:solidFill>
            <a:srgbClr val="E8F7D6"/>
          </a:solidFill>
          <a:ln w="12700">
            <a:solidFill>
              <a:srgbClr val="E8F7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 CustDev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3317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Подтвердить или опровергнуть гипотезы 1–3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822960" y="3337560"/>
            <a:ext cx="457200" cy="457200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417320" y="32461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Понять глубинные мотивы использования Duolingo (JTBD из фазы 3)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41605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Выявить барьеры к платной подписке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822960" y="5166360"/>
            <a:ext cx="457200" cy="457200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50749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инсайты для стратегии развития продукта (фаза 5)</a:t>
            </a:r>
            <a:endParaRPr lang="en-US" sz="15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554480"/>
          <a:ext cx="67482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743200"/>
                <a:gridCol w="1097280"/>
                <a:gridCol w="21762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Этап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Метод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Срок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Ответственный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24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Кабинетное исследование (конкуренты, отчёты Duolingo)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неделя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Аналитик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Глубинные интервью (по 5–7 чел. на сегмент)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неделя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Исследователь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Онлайн-опрос (300–500 респондентов)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 недели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Маркетолог + аналитик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Анализ продуктовых метрик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неделя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Продакт-аналитик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Синтез результатов, проверка гипотез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неделя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Вся команда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ase chip"/>
          <p:cNvSpPr/>
          <p:nvPr/>
        </p:nvSpPr>
        <p:spPr>
          <a:xfrm>
            <a:off x="548640" y="384048"/>
            <a:ext cx="1033272" cy="292608"/>
          </a:xfrm>
          <a:prstGeom prst="roundRect">
            <a:avLst>
              <a:gd name="adj" fmla="val 50000"/>
            </a:avLst>
          </a:prstGeom>
          <a:solidFill>
            <a:srgbClr val="58CC0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сбора данных</a:t>
            </a:r>
            <a:endParaRPr lang="en-US" sz="3200" dirty="0"/>
          </a:p>
        </p:txBody>
      </p:sp>
      <p:sp>
        <p:nvSpPr>
          <p:cNvPr id="6" name="Card"/>
          <p:cNvSpPr/>
          <p:nvPr/>
        </p:nvSpPr>
        <p:spPr>
          <a:xfrm>
            <a:off x="548640" y="155448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691640"/>
            <a:ext cx="5166360" cy="502920"/>
          </a:xfrm>
          <a:prstGeom prst="roundRect">
            <a:avLst>
              <a:gd name="adj" fmla="val 18182"/>
            </a:avLst>
          </a:prstGeom>
          <a:solidFill>
            <a:srgbClr val="DDF4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16916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Глубинные интервью</a:t>
            </a:r>
            <a:pPr indent="0" marL="0">
              <a:buNone/>
            </a:pPr>
            <a:r>
              <a:rPr lang="en-US" sz="1300" dirty="0">
                <a:solidFill>
                  <a:srgbClr val="5B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качественный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33172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Кого: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5–7 человек из каждого сегмента (Борис, Ольга, Марк)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Формат: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 минут, онлайн или офлайн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цитаты, боли, триггеры, барьеры</a:t>
            </a:r>
            <a:endParaRPr lang="en-US" sz="1700" dirty="0"/>
          </a:p>
        </p:txBody>
      </p:sp>
      <p:sp>
        <p:nvSpPr>
          <p:cNvPr id="10" name="Card"/>
          <p:cNvSpPr/>
          <p:nvPr/>
        </p:nvSpPr>
        <p:spPr>
          <a:xfrm>
            <a:off x="6199632" y="155448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36792" y="1691640"/>
            <a:ext cx="5166360" cy="502920"/>
          </a:xfrm>
          <a:prstGeom prst="roundRect">
            <a:avLst>
              <a:gd name="adj" fmla="val 18182"/>
            </a:avLst>
          </a:prstGeom>
          <a:solidFill>
            <a:srgbClr val="FFF3C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73952" y="16916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Опрос</a:t>
            </a:r>
            <a:pPr indent="0" marL="0">
              <a:buNone/>
            </a:pPr>
            <a:r>
              <a:rPr lang="en-US" sz="1300" dirty="0">
                <a:solidFill>
                  <a:srgbClr val="5B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количественный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73952" y="233172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Кого: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300–500 пользователей Duolingo (соцсети, тематические сообщества, Google Forms)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Формат: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вопросов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цифры, доли, корреляции</a:t>
            </a:r>
            <a:endParaRPr lang="en-US" sz="1700" dirty="0"/>
          </a:p>
        </p:txBody>
      </p:sp>
      <p:sp>
        <p:nvSpPr>
          <p:cNvPr id="14" name="Card"/>
          <p:cNvSpPr/>
          <p:nvPr/>
        </p:nvSpPr>
        <p:spPr>
          <a:xfrm>
            <a:off x="548640" y="397764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4114800"/>
            <a:ext cx="5166360" cy="502920"/>
          </a:xfrm>
          <a:prstGeom prst="roundRect">
            <a:avLst>
              <a:gd name="adj" fmla="val 18182"/>
            </a:avLst>
          </a:prstGeom>
          <a:solidFill>
            <a:srgbClr val="E8F7D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2960" y="41148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Обзор конкурентного рынка</a:t>
            </a:r>
            <a:pPr indent="0" marL="0">
              <a:buNone/>
            </a:pPr>
            <a:r>
              <a:rPr lang="en-US" sz="1300" dirty="0">
                <a:solidFill>
                  <a:srgbClr val="5B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кабинетный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75488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Кого: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Busuu, Babbel, Memrise, LingQ, Rosetta Stone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сравнения и выводы, где Duolingo проигрывает и выигрывает</a:t>
            </a:r>
            <a:endParaRPr lang="en-US" sz="1700" dirty="0"/>
          </a:p>
        </p:txBody>
      </p:sp>
      <p:sp>
        <p:nvSpPr>
          <p:cNvPr id="18" name="Card"/>
          <p:cNvSpPr/>
          <p:nvPr/>
        </p:nvSpPr>
        <p:spPr>
          <a:xfrm>
            <a:off x="6199632" y="397764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36792" y="4114800"/>
            <a:ext cx="5166360" cy="502920"/>
          </a:xfrm>
          <a:prstGeom prst="roundRect">
            <a:avLst>
              <a:gd name="adj" fmla="val 18182"/>
            </a:avLst>
          </a:prstGeom>
          <a:solidFill>
            <a:srgbClr val="F4F6F3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73952" y="41148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Анализ продуктовых метрик</a:t>
            </a:r>
            <a:pPr indent="0" marL="0">
              <a:buNone/>
            </a:pPr>
            <a:r>
              <a:rPr lang="en-US" sz="1300" dirty="0">
                <a:solidFill>
                  <a:srgbClr val="5B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внутренний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473952" y="475488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смотрим: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DAU, MAU, DAU/MAU, Retention D1/D7/D30, конверсия free → paid, средняя длина сессии, доля пользователей со streak 7+, 30+, 100+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3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для A/B-тестов и HADI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ase chip"/>
          <p:cNvSpPr/>
          <p:nvPr/>
        </p:nvSpPr>
        <p:spPr>
          <a:xfrm>
            <a:off x="548640" y="384048"/>
            <a:ext cx="1033272" cy="292608"/>
          </a:xfrm>
          <a:prstGeom prst="roundRect">
            <a:avLst>
              <a:gd name="adj" fmla="val 50000"/>
            </a:avLst>
          </a:prstGeom>
          <a:solidFill>
            <a:srgbClr val="58CC0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спрашиваем и анализируем</a:t>
            </a:r>
            <a:endParaRPr lang="en-US" sz="3200" dirty="0"/>
          </a:p>
        </p:txBody>
      </p:sp>
      <p:sp>
        <p:nvSpPr>
          <p:cNvPr id="6" name="Card"/>
          <p:cNvSpPr/>
          <p:nvPr/>
        </p:nvSpPr>
        <p:spPr>
          <a:xfrm>
            <a:off x="548640" y="1554480"/>
            <a:ext cx="3566160" cy="4709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691640"/>
            <a:ext cx="3291840" cy="548640"/>
          </a:xfrm>
          <a:prstGeom prst="roundRect">
            <a:avLst>
              <a:gd name="adj" fmla="val 16667"/>
            </a:avLst>
          </a:prstGeom>
          <a:solidFill>
            <a:srgbClr val="DDF4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1691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Интервью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514600"/>
            <a:ext cx="30632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 когда вы используете Duolingo?</a:t>
            </a:r>
            <a:endParaRPr lang="en-US" sz="18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вас мотивирует и демотивирует?</a:t>
            </a:r>
            <a:endParaRPr lang="en-US" sz="18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вы делаете, когда уроки повторяются?</a:t>
            </a:r>
            <a:endParaRPr lang="en-US" sz="18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Платили бы вы за разбор ошибок? Почему?</a:t>
            </a:r>
            <a:endParaRPr lang="en-US" sz="18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соревнование влияет на ваше использование?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4311396" y="1554480"/>
            <a:ext cx="3566160" cy="4709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48556" y="1691640"/>
            <a:ext cx="3291840" cy="548640"/>
          </a:xfrm>
          <a:prstGeom prst="roundRect">
            <a:avLst>
              <a:gd name="adj" fmla="val 16667"/>
            </a:avLst>
          </a:prstGeom>
          <a:solidFill>
            <a:srgbClr val="FFF3C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85716" y="1691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85716" y="2514600"/>
            <a:ext cx="30632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Возраст, страна, цель изучения языка</a:t>
            </a:r>
            <a:endParaRPr lang="en-US" sz="18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часто занимаетесь, сколько минут</a:t>
            </a:r>
            <a:endParaRPr lang="en-US" sz="18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раздражает: реклама, повторы, лимит жизней</a:t>
            </a:r>
            <a:endParaRPr lang="en-US" sz="18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платить и за что именно</a:t>
            </a:r>
            <a:endParaRPr lang="en-US" sz="18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Используете ли лидерборды и Friend Streak</a:t>
            </a:r>
            <a:endParaRPr lang="en-US" sz="1800" dirty="0"/>
          </a:p>
        </p:txBody>
      </p:sp>
      <p:sp>
        <p:nvSpPr>
          <p:cNvPr id="14" name="Card"/>
          <p:cNvSpPr/>
          <p:nvPr/>
        </p:nvSpPr>
        <p:spPr>
          <a:xfrm>
            <a:off x="8074152" y="1554480"/>
            <a:ext cx="3566160" cy="4709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11312" y="1691640"/>
            <a:ext cx="3291840" cy="548640"/>
          </a:xfrm>
          <a:prstGeom prst="roundRect">
            <a:avLst>
              <a:gd name="adj" fmla="val 16667"/>
            </a:avLst>
          </a:prstGeom>
          <a:solidFill>
            <a:srgbClr val="E8F7D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348472" y="1691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Конкуренты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348472" y="2514600"/>
            <a:ext cx="30632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монетизации</a:t>
            </a:r>
            <a:endParaRPr lang="en-US" sz="18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Глубина объяснений грамматики</a:t>
            </a:r>
            <a:endParaRPr lang="en-US" sz="18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Социальные механики</a:t>
            </a:r>
            <a:endParaRPr lang="en-US" sz="18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Офлайн-режим</a:t>
            </a:r>
            <a:endParaRPr lang="en-US" sz="18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Адаптивность уроков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ase chip"/>
          <p:cNvSpPr/>
          <p:nvPr/>
        </p:nvSpPr>
        <p:spPr>
          <a:xfrm>
            <a:off x="548640" y="384048"/>
            <a:ext cx="1033272" cy="292608"/>
          </a:xfrm>
          <a:prstGeom prst="roundRect">
            <a:avLst>
              <a:gd name="adj" fmla="val 50000"/>
            </a:avLst>
          </a:prstGeom>
          <a:solidFill>
            <a:srgbClr val="58CC0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стратегии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E8F7D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627632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Повысить вовлечённость пользователей и долю платящих пользователей приложения Duolingo. Для каждого сегмента заданы своя цель и главная метрика успеха.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B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Исходные значения (15 %, 9 %, 40 %) приняты как оценочные и уточняются перед запуском проверок.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3840480"/>
                <a:gridCol w="24048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Сегмент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Главная метрика, значение и срок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Контрольная метрика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24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«Занятой ученик»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Сократить прекращение занятий при нерегулярном графике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 пользователей со streak не менее 30 дней: с 15 % до 25 % за 2 месяца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Удержание на 30-й день не снижается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«Серьёзный энтузиаст»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Увеличить долю платных подписчиков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Конверсия в платную подписку: с 9 % до 12 % за квартал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Отток платящих пользователей не растёт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«Поколение Z»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Повысить регулярность возвращения в приложение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 ежедневной аудитории в месячной (DAU/MAU): с 40 % до 50 % за 6 недель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Удержание на 7-й и 30-й дни не снижается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ase chip"/>
          <p:cNvSpPr/>
          <p:nvPr/>
        </p:nvSpPr>
        <p:spPr>
          <a:xfrm>
            <a:off x="548640" y="384048"/>
            <a:ext cx="1033272" cy="292608"/>
          </a:xfrm>
          <a:prstGeom prst="roundRect">
            <a:avLst>
              <a:gd name="adj" fmla="val 50000"/>
            </a:avLst>
          </a:prstGeom>
          <a:solidFill>
            <a:srgbClr val="58CC0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шаги</a:t>
            </a:r>
            <a:endParaRPr lang="en-US" sz="3200" dirty="0"/>
          </a:p>
        </p:txBody>
      </p:sp>
      <p:sp>
        <p:nvSpPr>
          <p:cNvPr id="6" name="Parallel group"/>
          <p:cNvSpPr/>
          <p:nvPr/>
        </p:nvSpPr>
        <p:spPr>
          <a:xfrm>
            <a:off x="548640" y="2377440"/>
            <a:ext cx="11091672" cy="3017520"/>
          </a:xfrm>
          <a:prstGeom prst="roundRect">
            <a:avLst>
              <a:gd name="adj" fmla="val 4242"/>
            </a:avLst>
          </a:prstGeom>
          <a:solidFill>
            <a:srgbClr val="E8F7D6"/>
          </a:solidFill>
          <a:ln w="12700">
            <a:solidFill>
              <a:srgbClr val="E8F7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4323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ПАРАЛЛЕЛЬНО ПОСЛЕ ШАГА 1 · ОБЩИЙ СРОК ПРОВЕРОК — КВАРТАЛ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731520" y="1554480"/>
            <a:ext cx="10725912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1696212"/>
            <a:ext cx="493776" cy="493776"/>
          </a:xfrm>
          <a:prstGeom prst="ellipse">
            <a:avLst/>
          </a:prstGeom>
          <a:solidFill>
            <a:srgbClr val="131F2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16962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645920" y="15544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Провести исследование по плану CustDev (интервью, опрос, обзор конкурентов) и проверить предположения о причинах прекращения занятий, барьерах к подписке и роли соревнования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731520" y="2743200"/>
            <a:ext cx="10725912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2884932"/>
            <a:ext cx="493776" cy="493776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28849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645920" y="27432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«Занятой ученик»: проверить на двух группах пользователей гибкую заморозку серии на 1–2 дня и ежедневную цель в 5 минут (гипотеза 1)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601200" y="294894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FF3C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601200" y="29489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месяца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731520" y="3611880"/>
            <a:ext cx="10725912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14400" y="3753612"/>
            <a:ext cx="493776" cy="493776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37536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645920" y="36118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«Серьёзный энтузиаст»: проверить ограниченный разбор ошибок с объяснением правил в объёме 3–5 разборов в день (гипотеза 2)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601200" y="381762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FF3C4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601200" y="38176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квартал</a:t>
            </a:r>
            <a:endParaRPr lang="en-US" sz="1300" dirty="0"/>
          </a:p>
        </p:txBody>
      </p:sp>
      <p:sp>
        <p:nvSpPr>
          <p:cNvPr id="24" name="Card"/>
          <p:cNvSpPr/>
          <p:nvPr/>
        </p:nvSpPr>
        <p:spPr>
          <a:xfrm>
            <a:off x="731520" y="4480560"/>
            <a:ext cx="10725912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14400" y="4622292"/>
            <a:ext cx="493776" cy="493776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14400" y="46222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1645920" y="44805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«Поколение Z»: проверить командные сезонные испытания с сериями занятий с друзьями и наградами (гипотеза 3)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9601200" y="468630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FF3C4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601200" y="46863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недель</a:t>
            </a:r>
            <a:endParaRPr lang="en-US" sz="1300" dirty="0"/>
          </a:p>
        </p:txBody>
      </p:sp>
      <p:sp>
        <p:nvSpPr>
          <p:cNvPr id="30" name="Card"/>
          <p:cNvSpPr/>
          <p:nvPr/>
        </p:nvSpPr>
        <p:spPr>
          <a:xfrm>
            <a:off x="731520" y="5440680"/>
            <a:ext cx="10725912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14400" y="5582412"/>
            <a:ext cx="493776" cy="493776"/>
          </a:xfrm>
          <a:prstGeom prst="ellipse">
            <a:avLst/>
          </a:prstGeom>
          <a:solidFill>
            <a:srgbClr val="131F24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14400" y="55824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1645920" y="54406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итогам проверок принять решение по каждой механике: при росте главной метрики без ухудшения контрольной механику внедряют для всех пользователей, иначе корректируют ограничения и повторяют проверку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ase chip"/>
          <p:cNvSpPr/>
          <p:nvPr/>
        </p:nvSpPr>
        <p:spPr>
          <a:xfrm>
            <a:off x="548640" y="384048"/>
            <a:ext cx="1033272" cy="292608"/>
          </a:xfrm>
          <a:prstGeom prst="roundRect">
            <a:avLst>
              <a:gd name="adj" fmla="val 50000"/>
            </a:avLst>
          </a:prstGeom>
          <a:solidFill>
            <a:srgbClr val="58CC0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и способы расчёта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017520"/>
                <a:gridCol w="47823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Метрика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измеряет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 считается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24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 пользователей со streak не менее 30 дней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Регулярность занятий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Активные пользователи сегмента со streak 30+ дней ÷ активные пользователи сегмента × 100 %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Конверсия в платную подписку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Долю оформивших подписку среди бесплатных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Оформившие подписку за период ÷ пользователи бесплатной версии × 100 %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DAU/MAU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Долю возвращающихся ежедневно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DAU ÷ MAU, где DAU — уникальные активные за сутки, MAU — за 30 дней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Удержание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Долю вернувшихся спустя N дней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Активные на N-й день ÷ активные в день регистрации × 100 %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3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Отток платящих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Долю потерянных подписчиков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3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продлившие подписку за период ÷ платящие на начало периода × 100 %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ase chip"/>
          <p:cNvSpPr/>
          <p:nvPr/>
        </p:nvSpPr>
        <p:spPr>
          <a:xfrm>
            <a:off x="548640" y="384048"/>
            <a:ext cx="937260" cy="292608"/>
          </a:xfrm>
          <a:prstGeom prst="roundRect">
            <a:avLst>
              <a:gd name="adj" fmla="val 50000"/>
            </a:avLst>
          </a:prstGeom>
          <a:solidFill>
            <a:srgbClr val="58CC0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3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БОНУС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Юнит-экономика</a:t>
            </a:r>
            <a:endParaRPr lang="en-US" sz="3200" dirty="0"/>
          </a:p>
        </p:txBody>
      </p:sp>
      <p:sp>
        <p:nvSpPr>
          <p:cNvPr id="6" name="Card"/>
          <p:cNvSpPr/>
          <p:nvPr/>
        </p:nvSpPr>
        <p:spPr>
          <a:xfrm>
            <a:off x="548640" y="155448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737360"/>
            <a:ext cx="2651760" cy="365760"/>
          </a:xfrm>
          <a:prstGeom prst="roundRect">
            <a:avLst>
              <a:gd name="adj" fmla="val 25000"/>
            </a:avLst>
          </a:prstGeom>
          <a:solidFill>
            <a:srgbClr val="DDF4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юнит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2402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Платящий пользователь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92608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12,7 млн платящих ≈ 9 % от 140,6 млн MAU. Срок жизни — 18 месяцев (допущение).</a:t>
            </a:r>
            <a:endParaRPr lang="en-US" sz="1550" dirty="0"/>
          </a:p>
        </p:txBody>
      </p:sp>
      <p:sp>
        <p:nvSpPr>
          <p:cNvPr id="11" name="Card"/>
          <p:cNvSpPr/>
          <p:nvPr/>
        </p:nvSpPr>
        <p:spPr>
          <a:xfrm>
            <a:off x="6199632" y="155448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82512" y="1737360"/>
            <a:ext cx="2651760" cy="365760"/>
          </a:xfrm>
          <a:prstGeom prst="roundRect">
            <a:avLst>
              <a:gd name="adj" fmla="val 25000"/>
            </a:avLst>
          </a:prstGeom>
          <a:solidFill>
            <a:srgbClr val="E8F7D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82512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 с юнита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473952" y="22402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$6,83 в месяц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6473952" y="292608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ARPU. За 18 месяцев ≈ $123.</a:t>
            </a:r>
            <a:endParaRPr lang="en-US" sz="1550" dirty="0"/>
          </a:p>
        </p:txBody>
      </p:sp>
      <p:sp>
        <p:nvSpPr>
          <p:cNvPr id="16" name="Card"/>
          <p:cNvSpPr/>
          <p:nvPr/>
        </p:nvSpPr>
        <p:spPr>
          <a:xfrm>
            <a:off x="548640" y="393192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114800"/>
            <a:ext cx="2651760" cy="365760"/>
          </a:xfrm>
          <a:prstGeom prst="roundRect">
            <a:avLst>
              <a:gd name="adj" fmla="val 25000"/>
            </a:avLst>
          </a:prstGeom>
          <a:solidFill>
            <a:srgbClr val="FFF3C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31520" y="4114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Расход на привлечение юнита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6177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≈ $17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3035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 млн ÷ ≈ 2,3 млн новых платящих. Окупается за ≈ 3,5 месяца.</a:t>
            </a:r>
            <a:endParaRPr lang="en-US" sz="1550" dirty="0"/>
          </a:p>
        </p:txBody>
      </p:sp>
      <p:sp>
        <p:nvSpPr>
          <p:cNvPr id="21" name="Card"/>
          <p:cNvSpPr/>
          <p:nvPr/>
        </p:nvSpPr>
        <p:spPr>
          <a:xfrm>
            <a:off x="6199632" y="393192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1E5D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82512" y="4114800"/>
            <a:ext cx="2651760" cy="365760"/>
          </a:xfrm>
          <a:prstGeom prst="roundRect">
            <a:avLst>
              <a:gd name="adj" fmla="val 25000"/>
            </a:avLst>
          </a:prstGeom>
          <a:solidFill>
            <a:srgbClr val="F4F6F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382512" y="4114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Маржинальность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473952" y="46177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Валовая маржа 72,6 %</a:t>
            </a:r>
            <a:endParaRPr lang="en-US" sz="2800" dirty="0"/>
          </a:p>
        </p:txBody>
      </p:sp>
      <p:sp>
        <p:nvSpPr>
          <p:cNvPr id="25" name="Text 22"/>
          <p:cNvSpPr txBox="1"/>
          <p:nvPr/>
        </p:nvSpPr>
        <p:spPr>
          <a:xfrm>
            <a:off x="6473952" y="53035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$4,96 в месяц с юнита. LTV ≈ $89, LTV/CAC ≈ 5:1, прибыль с юнита ≈ $72 (≈ 58 % от $123).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olingo Project">
  <a:themeElements>
    <a:clrScheme name="Duolingo Project">
      <a:dk1>
        <a:srgbClr val="131F24"/>
      </a:dk1>
      <a:lt1>
        <a:srgbClr val="FFFFFF"/>
      </a:lt1>
      <a:dk2>
        <a:srgbClr val="3C4A52"/>
      </a:dk2>
      <a:lt2>
        <a:srgbClr val="F4F6F3"/>
      </a:lt2>
      <a:accent1>
        <a:srgbClr val="58CC02"/>
      </a:accent1>
      <a:accent2>
        <a:srgbClr val="1CB0F6"/>
      </a:accent2>
      <a:accent3>
        <a:srgbClr val="FFC800"/>
      </a:accent3>
      <a:accent4>
        <a:srgbClr val="FF4B4B"/>
      </a:accent4>
      <a:accent5>
        <a:srgbClr val="CE82FF"/>
      </a:accent5>
      <a:accent6>
        <a:srgbClr val="46A302"/>
      </a:accent6>
      <a:hlink>
        <a:srgbClr val="1899D6"/>
      </a:hlink>
      <a:folHlink>
        <a:srgbClr val="6B7780"/>
      </a:folHlink>
    </a:clrScheme>
    <a:fontScheme name="Duolingo Projec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продукта Duolingo и стратегия развития</dc:title>
  <dc:subject>PptxGenJS Presentation</dc:subject>
  <dc:creator/>
  <cp:lastModifiedBy/>
  <cp:revision>1</cp:revision>
  <dcterms:created xsi:type="dcterms:W3CDTF">2026-10-16T21:30:48Z</dcterms:created>
  <dcterms:modified xsi:type="dcterms:W3CDTF">2026-10-16T21:30:48Z</dcterms:modified>
  <dc:description/>
</cp:coreProperties>
</file>